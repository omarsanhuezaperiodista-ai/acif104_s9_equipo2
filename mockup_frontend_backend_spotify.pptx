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12700">
            <a:solidFill>
              <a:srgbClr val="DDE5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5394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sistema de recomendación de artistas · Spotify Chile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418320" y="6601968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Backend conceptual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Mockup frontend/backend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498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Sistema de recomendación de artistas para eventos musicales en Chile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84080" y="438912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57232" y="489204"/>
            <a:ext cx="1353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Propuesta no funcional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Objetivo del mockup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938528"/>
            <a:ext cx="49377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</a:rPr>
              <a:t>Mostrar cómo una productora u organizador podría consultar perfiles de artistas, métricas del modelo, explicación SHAP y señales digitales locales obtenidas desde Spotify Chile.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1417320" cy="256032"/>
          </a:xfrm>
          <a:prstGeom prst="roundRect">
            <a:avLst/>
          </a:prstGeom>
          <a:solidFill>
            <a:srgbClr val="E9F9EF"/>
          </a:solidFill>
          <a:ln w="7620">
            <a:solidFill>
              <a:srgbClr val="BDEB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664208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803D"/>
                </a:solidFill>
              </a:rPr>
              <a:t>Backend Python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6126480" y="2029968"/>
            <a:ext cx="1143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1762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Carga de datos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296912" y="22860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08392" y="2029968"/>
            <a:ext cx="9601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1544" y="2176272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Limpieza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705088" y="22860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16568" y="2029968"/>
            <a:ext cx="1078992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176272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Agregación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0222992" y="22860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634472" y="2029968"/>
            <a:ext cx="1143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07624" y="21762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PCA / K-Means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446520" y="2944368"/>
            <a:ext cx="914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309067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MLP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388352" y="32004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99832" y="2944368"/>
            <a:ext cx="100584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3090672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Métricas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833104" y="32004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44584" y="2944368"/>
            <a:ext cx="9144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17736" y="309067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SHAP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186416" y="3200400"/>
            <a:ext cx="365760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597896" y="2944368"/>
            <a:ext cx="11430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71048" y="3090672"/>
            <a:ext cx="996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</a:rPr>
              <a:t>API / resultados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3246120"/>
            <a:ext cx="1444752" cy="256032"/>
          </a:xfrm>
          <a:prstGeom prst="roundRect">
            <a:avLst/>
          </a:prstGeom>
          <a:solidFill>
            <a:srgbClr val="E9F9EF"/>
          </a:solidFill>
          <a:ln w="7620">
            <a:solidFill>
              <a:srgbClr val="BDEB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3310128"/>
            <a:ext cx="1298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5803D"/>
                </a:solidFill>
              </a:rPr>
              <a:t>Frontend mockup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94360" y="3657600"/>
            <a:ext cx="11064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3977640"/>
            <a:ext cx="2148840" cy="749808"/>
          </a:xfrm>
          <a:prstGeom prst="roundRect">
            <a:avLst/>
          </a:prstGeom>
          <a:solidFill>
            <a:srgbClr val="E9F9EF"/>
          </a:solidFill>
          <a:ln w="12700">
            <a:solidFill>
              <a:srgbClr val="BDEB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2245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Inicio y carga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3127248" y="4352544"/>
            <a:ext cx="374904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611880" y="3977640"/>
            <a:ext cx="2148840" cy="7498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21608" y="42245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Dashboard general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5824728" y="4352544"/>
            <a:ext cx="374904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09360" y="3977640"/>
            <a:ext cx="2148840" cy="7498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42245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Explorador de artistas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522208" y="4352544"/>
            <a:ext cx="374904" cy="0"/>
          </a:xfrm>
          <a:prstGeom prst="line">
            <a:avLst/>
          </a:prstGeom>
          <a:noFill/>
          <a:ln w="1524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006840" y="3977640"/>
            <a:ext cx="2148840" cy="7498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16568" y="42245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</a:rPr>
              <a:t>Detalle + SHAP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731520" y="55961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Alcance: prototipo visual para informe, no app funcional. El notebook implementa el backend analítico.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1 · Inicio y carga de datos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del sistema y conexión con el pipeline backend.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051560"/>
            <a:ext cx="10835640" cy="5074920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15240">
            <a:solidFill>
              <a:srgbClr val="DD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51560"/>
            <a:ext cx="1083564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117957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" y="11795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179576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80744" y="1161288"/>
            <a:ext cx="9921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spotify-artistas.app/inicio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051560" y="16002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Sistema de recomendación de artistas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84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Analiza rankings diarios de Spotify Chile para estimar señal digital local por artista.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1298448" y="28346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Carga y configuración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236976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Dataset Spotify Chile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1298448" y="345643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3566160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Cargar archivo CSV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310128" y="3456432"/>
            <a:ext cx="1783080" cy="384048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3566160"/>
            <a:ext cx="1600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</a:rPr>
              <a:t>Actualizar rankings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298448" y="4114800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Periodo de análisis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1298448" y="4325112"/>
            <a:ext cx="3794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4752" y="4443984"/>
            <a:ext cx="3291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827"/>
                </a:solidFill>
              </a:rPr>
              <a:t>01-01-2020  →  31-12-2024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298448" y="4892040"/>
            <a:ext cx="1920240" cy="384048"/>
          </a:xfrm>
          <a:prstGeom prst="roundRect">
            <a:avLst>
              <a:gd name="adj" fmla="val 9524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5001768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Ejecutar análisis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400800" y="1600200"/>
            <a:ext cx="4526280" cy="3474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847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 Python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217627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Flujo ejecutado desde notebook / script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720840" y="2505456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2487168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Carga CSV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6720840" y="2852928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2834640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Limpieza y filtros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6720840" y="3200400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3182112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Base agregada por artista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6720840" y="3547872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3529584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PCA + K-Means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6720840" y="3895344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67728" y="3877056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MLP + métricas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6720840" y="4242816"/>
            <a:ext cx="137160" cy="13716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4224528"/>
            <a:ext cx="3108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9FAFB"/>
                </a:solidFill>
              </a:rPr>
              <a:t>SHAP + resultados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6720840" y="4645152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</a:rPr>
              <a:t>Salida: tablas, gráficos, etiquetas, métricas y explicabilidad para frontend.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2 · Dashboard general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ejecutiva para monitorear dataset, perfiles, métricas y explicabilidad global.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5240">
            <a:solidFill>
              <a:srgbClr val="DD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24128"/>
            <a:ext cx="1120140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15214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152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152144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133856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spotify-artistas.app/dashboard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Dashboard del modelo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875520" y="1481328"/>
            <a:ext cx="1325880" cy="384048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0" y="1591056"/>
            <a:ext cx="1143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</a:rPr>
              <a:t>Exportar informe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868680" y="1938528"/>
            <a:ext cx="1600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1938528"/>
            <a:ext cx="73152" cy="78638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204825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Artistas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33272" y="22585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408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697480" y="1938528"/>
            <a:ext cx="1600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1938528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204825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Variables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2862072" y="22585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8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26280" y="1938528"/>
            <a:ext cx="1600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1938528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04825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Clusters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690872" y="22585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55080" y="1938528"/>
            <a:ext cx="16002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5080" y="1938528"/>
            <a:ext cx="73152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9672" y="2048256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Modelo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519672" y="22585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MLP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83880" y="1938528"/>
            <a:ext cx="13716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1938528"/>
            <a:ext cx="73152" cy="78638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204825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AUC test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8348472" y="22585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784080" y="1938528"/>
            <a:ext cx="137160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1938528"/>
            <a:ext cx="73152" cy="786384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48672" y="204825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F1-score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9948672" y="225856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0.985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68680" y="2944368"/>
            <a:ext cx="320040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3127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</a:rPr>
              <a:t>Distribución por perfil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1051560" y="3461004"/>
            <a:ext cx="12728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Sostenida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2377440" y="3474720"/>
            <a:ext cx="1050097" cy="137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3746754"/>
            <a:ext cx="12728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Baja presencia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377440" y="3760470"/>
            <a:ext cx="883036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032504"/>
            <a:ext cx="12728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Puntual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377440" y="4046220"/>
            <a:ext cx="298323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4318254"/>
            <a:ext cx="12728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Consolidada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377440" y="4331970"/>
            <a:ext cx="143195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2944368"/>
            <a:ext cx="32461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31272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11827"/>
                </a:solidFill>
              </a:rPr>
              <a:t>Variables SHAP globales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4526280" y="3461004"/>
            <a:ext cx="129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rank_promedio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875020" y="3474720"/>
            <a:ext cx="1213866" cy="137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0" y="3746754"/>
            <a:ext cx="129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puntaje_posición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5875020" y="3760470"/>
            <a:ext cx="886122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26280" y="4032504"/>
            <a:ext cx="129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permanencia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5875020" y="4046220"/>
            <a:ext cx="679765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26280" y="4318254"/>
            <a:ext cx="12947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movimiento_sem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875020" y="4331970"/>
            <a:ext cx="473408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3840" y="2944368"/>
            <a:ext cx="3337560" cy="14996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63840" y="2944368"/>
            <a:ext cx="3337560" cy="292608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303580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Artista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9022080" y="303580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Señal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10134600" y="303580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Prob.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7909560" y="3328416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Bad Bunny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9022080" y="3328416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Alta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10134600" y="3328416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0.99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7909560" y="363016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FloyyMenor</a:t>
            </a:r>
            <a:endParaRPr lang="en-US" sz="620" dirty="0"/>
          </a:p>
        </p:txBody>
      </p:sp>
      <p:sp>
        <p:nvSpPr>
          <p:cNvPr id="66" name="Text 64"/>
          <p:cNvSpPr/>
          <p:nvPr/>
        </p:nvSpPr>
        <p:spPr>
          <a:xfrm>
            <a:off x="9022080" y="363016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Alta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10134600" y="3630168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0.99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7909560" y="3931920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La Noche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9022080" y="3931920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Menor</a:t>
            </a:r>
            <a:endParaRPr lang="en-US" sz="620" dirty="0"/>
          </a:p>
        </p:txBody>
      </p:sp>
      <p:sp>
        <p:nvSpPr>
          <p:cNvPr id="70" name="Text 68"/>
          <p:cNvSpPr/>
          <p:nvPr/>
        </p:nvSpPr>
        <p:spPr>
          <a:xfrm>
            <a:off x="10134600" y="3931920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0.00</a:t>
            </a:r>
            <a:endParaRPr lang="en-US" sz="620" dirty="0"/>
          </a:p>
        </p:txBody>
      </p:sp>
      <p:sp>
        <p:nvSpPr>
          <p:cNvPr id="71" name="Text 69"/>
          <p:cNvSpPr/>
          <p:nvPr/>
        </p:nvSpPr>
        <p:spPr>
          <a:xfrm>
            <a:off x="7909560" y="4233672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Myriam Hernández</a:t>
            </a:r>
            <a:endParaRPr lang="en-US" sz="620" dirty="0"/>
          </a:p>
        </p:txBody>
      </p:sp>
      <p:sp>
        <p:nvSpPr>
          <p:cNvPr id="72" name="Text 70"/>
          <p:cNvSpPr/>
          <p:nvPr/>
        </p:nvSpPr>
        <p:spPr>
          <a:xfrm>
            <a:off x="9022080" y="4233672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Menor</a:t>
            </a:r>
            <a:endParaRPr lang="en-US" sz="620" dirty="0"/>
          </a:p>
        </p:txBody>
      </p:sp>
      <p:sp>
        <p:nvSpPr>
          <p:cNvPr id="73" name="Text 71"/>
          <p:cNvSpPr/>
          <p:nvPr/>
        </p:nvSpPr>
        <p:spPr>
          <a:xfrm>
            <a:off x="10134600" y="4233672"/>
            <a:ext cx="1021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0.00</a:t>
            </a:r>
            <a:endParaRPr lang="en-US" sz="620" dirty="0"/>
          </a:p>
        </p:txBody>
      </p:sp>
      <p:sp>
        <p:nvSpPr>
          <p:cNvPr id="74" name="Text 72"/>
          <p:cNvSpPr/>
          <p:nvPr/>
        </p:nvSpPr>
        <p:spPr>
          <a:xfrm>
            <a:off x="868680" y="534924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280"/>
                </a:solidFill>
              </a:rPr>
              <a:t>Nota: la señal digital local se basa en Spotify Chile y no equivale a convocatoria real.</a:t>
            </a:r>
            <a:endParaRPr lang="en-US" sz="7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3 · Explorador de artistas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con filtros para revisar rankings, clusters y clasificación técnica por artista.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5240">
            <a:solidFill>
              <a:srgbClr val="DD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24128"/>
            <a:ext cx="1120140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15214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152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152144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133856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spotify-artistas.app/explorador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68680" y="1527048"/>
            <a:ext cx="2377440" cy="4160520"/>
          </a:xfrm>
          <a:prstGeom prst="roundRect">
            <a:avLst/>
          </a:prstGeom>
          <a:solidFill>
            <a:srgbClr val="EEF3F5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783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Filtros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12848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B7280"/>
                </a:solidFill>
              </a:rPr>
              <a:t>Buscar artista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1097280" y="2368296"/>
            <a:ext cx="17830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2459736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9CA3AF"/>
                </a:solidFill>
              </a:rPr>
              <a:t>Nombre del artista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B7280"/>
                </a:solidFill>
              </a:rPr>
              <a:t>Cluster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1097280" y="2935224"/>
            <a:ext cx="17830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3026664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</a:rPr>
              <a:t>Todos</a:t>
            </a:r>
            <a:endParaRPr lang="en-US" sz="660" dirty="0"/>
          </a:p>
        </p:txBody>
      </p:sp>
      <p:sp>
        <p:nvSpPr>
          <p:cNvPr id="18" name="Text 16"/>
          <p:cNvSpPr/>
          <p:nvPr/>
        </p:nvSpPr>
        <p:spPr>
          <a:xfrm>
            <a:off x="1097280" y="3346704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B7280"/>
                </a:solidFill>
              </a:rPr>
              <a:t>Señal digital local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1097280" y="3502152"/>
            <a:ext cx="17830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3593592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</a:rPr>
              <a:t>Todos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1097280" y="3913632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B7280"/>
                </a:solidFill>
              </a:rPr>
              <a:t>Ranking promedio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1097280" y="4069080"/>
            <a:ext cx="17830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4160520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</a:rPr>
              <a:t>Todos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097280" y="4480560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6B7280"/>
                </a:solidFill>
              </a:rPr>
              <a:t>Permanencia días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1097280" y="4636008"/>
            <a:ext cx="17830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07008" y="4727448"/>
            <a:ext cx="13716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11827"/>
                </a:solidFill>
              </a:rPr>
              <a:t>Todos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1097280" y="5166360"/>
            <a:ext cx="1143000" cy="384048"/>
          </a:xfrm>
          <a:prstGeom prst="roundRect">
            <a:avLst>
              <a:gd name="adj" fmla="val 9524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52760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Aplicar filtros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340864" y="516636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EEF3F5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32304" y="5276088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</a:rPr>
              <a:t>Limpiar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3566160" y="155448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Resultados filtrados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66160" y="1938528"/>
            <a:ext cx="731520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6160" y="1938528"/>
            <a:ext cx="7315200" cy="292608"/>
          </a:xfrm>
          <a:prstGeom prst="rect">
            <a:avLst/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2029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Artista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074920" y="2029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Apariciones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537960" y="2029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Rank prom.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8001000" y="2029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Permanencia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9464040" y="20299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6B7280"/>
                </a:solidFill>
              </a:rPr>
              <a:t>Clasificación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3611880" y="23225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Bad Bunny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5074920" y="23225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1233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6537960" y="23225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18.79</a:t>
            </a:r>
            <a:endParaRPr lang="en-US" sz="620" dirty="0"/>
          </a:p>
        </p:txBody>
      </p:sp>
      <p:sp>
        <p:nvSpPr>
          <p:cNvPr id="42" name="Text 40"/>
          <p:cNvSpPr/>
          <p:nvPr/>
        </p:nvSpPr>
        <p:spPr>
          <a:xfrm>
            <a:off x="8001000" y="23225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227</a:t>
            </a:r>
            <a:endParaRPr lang="en-US" sz="620" dirty="0"/>
          </a:p>
        </p:txBody>
      </p:sp>
      <p:sp>
        <p:nvSpPr>
          <p:cNvPr id="43" name="Text 41"/>
          <p:cNvSpPr/>
          <p:nvPr/>
        </p:nvSpPr>
        <p:spPr>
          <a:xfrm>
            <a:off x="9464040" y="232257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Alta</a:t>
            </a:r>
            <a:endParaRPr lang="en-US" sz="620" dirty="0"/>
          </a:p>
        </p:txBody>
      </p:sp>
      <p:sp>
        <p:nvSpPr>
          <p:cNvPr id="44" name="Text 42"/>
          <p:cNvSpPr/>
          <p:nvPr/>
        </p:nvSpPr>
        <p:spPr>
          <a:xfrm>
            <a:off x="3611880" y="2624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Cris Mj</a:t>
            </a:r>
            <a:endParaRPr lang="en-US" sz="620" dirty="0"/>
          </a:p>
        </p:txBody>
      </p:sp>
      <p:sp>
        <p:nvSpPr>
          <p:cNvPr id="45" name="Text 43"/>
          <p:cNvSpPr/>
          <p:nvPr/>
        </p:nvSpPr>
        <p:spPr>
          <a:xfrm>
            <a:off x="5074920" y="2624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1808</a:t>
            </a:r>
            <a:endParaRPr lang="en-US" sz="620" dirty="0"/>
          </a:p>
        </p:txBody>
      </p:sp>
      <p:sp>
        <p:nvSpPr>
          <p:cNvPr id="46" name="Text 44"/>
          <p:cNvSpPr/>
          <p:nvPr/>
        </p:nvSpPr>
        <p:spPr>
          <a:xfrm>
            <a:off x="6537960" y="2624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20.82</a:t>
            </a:r>
            <a:endParaRPr lang="en-US" sz="620" dirty="0"/>
          </a:p>
        </p:txBody>
      </p:sp>
      <p:sp>
        <p:nvSpPr>
          <p:cNvPr id="47" name="Text 45"/>
          <p:cNvSpPr/>
          <p:nvPr/>
        </p:nvSpPr>
        <p:spPr>
          <a:xfrm>
            <a:off x="8001000" y="2624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549</a:t>
            </a:r>
            <a:endParaRPr lang="en-US" sz="620" dirty="0"/>
          </a:p>
        </p:txBody>
      </p:sp>
      <p:sp>
        <p:nvSpPr>
          <p:cNvPr id="48" name="Text 46"/>
          <p:cNvSpPr/>
          <p:nvPr/>
        </p:nvSpPr>
        <p:spPr>
          <a:xfrm>
            <a:off x="9464040" y="262432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Alta</a:t>
            </a:r>
            <a:endParaRPr lang="en-US" sz="620" dirty="0"/>
          </a:p>
        </p:txBody>
      </p:sp>
      <p:sp>
        <p:nvSpPr>
          <p:cNvPr id="49" name="Text 47"/>
          <p:cNvSpPr/>
          <p:nvPr/>
        </p:nvSpPr>
        <p:spPr>
          <a:xfrm>
            <a:off x="3611880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FloyyMenor</a:t>
            </a:r>
            <a:endParaRPr lang="en-US" sz="620" dirty="0"/>
          </a:p>
        </p:txBody>
      </p:sp>
      <p:sp>
        <p:nvSpPr>
          <p:cNvPr id="50" name="Text 48"/>
          <p:cNvSpPr/>
          <p:nvPr/>
        </p:nvSpPr>
        <p:spPr>
          <a:xfrm>
            <a:off x="5074920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392</a:t>
            </a:r>
            <a:endParaRPr lang="en-US" sz="620" dirty="0"/>
          </a:p>
        </p:txBody>
      </p:sp>
      <p:sp>
        <p:nvSpPr>
          <p:cNvPr id="51" name="Text 49"/>
          <p:cNvSpPr/>
          <p:nvPr/>
        </p:nvSpPr>
        <p:spPr>
          <a:xfrm>
            <a:off x="6537960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17.87</a:t>
            </a:r>
            <a:endParaRPr lang="en-US" sz="620" dirty="0"/>
          </a:p>
        </p:txBody>
      </p:sp>
      <p:sp>
        <p:nvSpPr>
          <p:cNvPr id="52" name="Text 50"/>
          <p:cNvSpPr/>
          <p:nvPr/>
        </p:nvSpPr>
        <p:spPr>
          <a:xfrm>
            <a:off x="8001000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392</a:t>
            </a:r>
            <a:endParaRPr lang="en-US" sz="620" dirty="0"/>
          </a:p>
        </p:txBody>
      </p:sp>
      <p:sp>
        <p:nvSpPr>
          <p:cNvPr id="53" name="Text 51"/>
          <p:cNvSpPr/>
          <p:nvPr/>
        </p:nvSpPr>
        <p:spPr>
          <a:xfrm>
            <a:off x="9464040" y="29260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Alta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3611880" y="3227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La Noche</a:t>
            </a:r>
            <a:endParaRPr lang="en-US" sz="620" dirty="0"/>
          </a:p>
        </p:txBody>
      </p:sp>
      <p:sp>
        <p:nvSpPr>
          <p:cNvPr id="55" name="Text 53"/>
          <p:cNvSpPr/>
          <p:nvPr/>
        </p:nvSpPr>
        <p:spPr>
          <a:xfrm>
            <a:off x="5074920" y="3227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24</a:t>
            </a:r>
            <a:endParaRPr lang="en-US" sz="620" dirty="0"/>
          </a:p>
        </p:txBody>
      </p:sp>
      <p:sp>
        <p:nvSpPr>
          <p:cNvPr id="56" name="Text 54"/>
          <p:cNvSpPr/>
          <p:nvPr/>
        </p:nvSpPr>
        <p:spPr>
          <a:xfrm>
            <a:off x="6537960" y="3227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47.20</a:t>
            </a:r>
            <a:endParaRPr lang="en-US" sz="620" dirty="0"/>
          </a:p>
        </p:txBody>
      </p:sp>
      <p:sp>
        <p:nvSpPr>
          <p:cNvPr id="57" name="Text 55"/>
          <p:cNvSpPr/>
          <p:nvPr/>
        </p:nvSpPr>
        <p:spPr>
          <a:xfrm>
            <a:off x="8001000" y="3227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15</a:t>
            </a:r>
            <a:endParaRPr lang="en-US" sz="620" dirty="0"/>
          </a:p>
        </p:txBody>
      </p:sp>
      <p:sp>
        <p:nvSpPr>
          <p:cNvPr id="58" name="Text 56"/>
          <p:cNvSpPr/>
          <p:nvPr/>
        </p:nvSpPr>
        <p:spPr>
          <a:xfrm>
            <a:off x="9464040" y="3227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Menor</a:t>
            </a:r>
            <a:endParaRPr lang="en-US" sz="620" dirty="0"/>
          </a:p>
        </p:txBody>
      </p:sp>
      <p:sp>
        <p:nvSpPr>
          <p:cNvPr id="59" name="Text 57"/>
          <p:cNvSpPr/>
          <p:nvPr/>
        </p:nvSpPr>
        <p:spPr>
          <a:xfrm>
            <a:off x="3611880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Antonio Ríos</a:t>
            </a:r>
            <a:endParaRPr lang="en-US" sz="620" dirty="0"/>
          </a:p>
        </p:txBody>
      </p:sp>
      <p:sp>
        <p:nvSpPr>
          <p:cNvPr id="60" name="Text 58"/>
          <p:cNvSpPr/>
          <p:nvPr/>
        </p:nvSpPr>
        <p:spPr>
          <a:xfrm>
            <a:off x="5074920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18</a:t>
            </a:r>
            <a:endParaRPr lang="en-US" sz="620" dirty="0"/>
          </a:p>
        </p:txBody>
      </p:sp>
      <p:sp>
        <p:nvSpPr>
          <p:cNvPr id="61" name="Text 59"/>
          <p:cNvSpPr/>
          <p:nvPr/>
        </p:nvSpPr>
        <p:spPr>
          <a:xfrm>
            <a:off x="6537960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46.10</a:t>
            </a:r>
            <a:endParaRPr lang="en-US" sz="620" dirty="0"/>
          </a:p>
        </p:txBody>
      </p:sp>
      <p:sp>
        <p:nvSpPr>
          <p:cNvPr id="62" name="Text 60"/>
          <p:cNvSpPr/>
          <p:nvPr/>
        </p:nvSpPr>
        <p:spPr>
          <a:xfrm>
            <a:off x="8001000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11</a:t>
            </a:r>
            <a:endParaRPr lang="en-US" sz="620" dirty="0"/>
          </a:p>
        </p:txBody>
      </p:sp>
      <p:sp>
        <p:nvSpPr>
          <p:cNvPr id="63" name="Text 61"/>
          <p:cNvSpPr/>
          <p:nvPr/>
        </p:nvSpPr>
        <p:spPr>
          <a:xfrm>
            <a:off x="9464040" y="352958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Menor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3611880" y="38313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Myriam Hernández</a:t>
            </a:r>
            <a:endParaRPr lang="en-US" sz="620" dirty="0"/>
          </a:p>
        </p:txBody>
      </p:sp>
      <p:sp>
        <p:nvSpPr>
          <p:cNvPr id="65" name="Text 63"/>
          <p:cNvSpPr/>
          <p:nvPr/>
        </p:nvSpPr>
        <p:spPr>
          <a:xfrm>
            <a:off x="5074920" y="38313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10</a:t>
            </a:r>
            <a:endParaRPr lang="en-US" sz="620" dirty="0"/>
          </a:p>
        </p:txBody>
      </p:sp>
      <p:sp>
        <p:nvSpPr>
          <p:cNvPr id="66" name="Text 64"/>
          <p:cNvSpPr/>
          <p:nvPr/>
        </p:nvSpPr>
        <p:spPr>
          <a:xfrm>
            <a:off x="6537960" y="38313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48.90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8001000" y="38313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9</a:t>
            </a:r>
            <a:endParaRPr lang="en-US" sz="620" dirty="0"/>
          </a:p>
        </p:txBody>
      </p:sp>
      <p:sp>
        <p:nvSpPr>
          <p:cNvPr id="68" name="Text 66"/>
          <p:cNvSpPr/>
          <p:nvPr/>
        </p:nvSpPr>
        <p:spPr>
          <a:xfrm>
            <a:off x="9464040" y="383133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11827"/>
                </a:solidFill>
              </a:rPr>
              <a:t>Menor</a:t>
            </a: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3566160" y="4773168"/>
            <a:ext cx="7315200" cy="65836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67328" y="4956048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92400E"/>
                </a:solidFill>
              </a:rPr>
              <a:t>Interpretación: artistas con menor señal digital en Spotify pueden tener convocatoria relevante en espacios específicos. El sistema es apoyo a decisión, no reemplazo del criterio de programación.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 4 · Detalle del artista y explicación del modelo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individual con probabilidad, perfil, métricas y variables que influyen en la clasificación.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5230368"/>
          </a:xfrm>
          <a:prstGeom prst="roundRect">
            <a:avLst>
              <a:gd name="adj" fmla="val 699"/>
            </a:avLst>
          </a:prstGeom>
          <a:solidFill>
            <a:srgbClr val="FFFFFF"/>
          </a:solidFill>
          <a:ln w="15240">
            <a:solidFill>
              <a:srgbClr val="DD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24128"/>
            <a:ext cx="11201400" cy="38404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15214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115214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152144"/>
            <a:ext cx="91440" cy="9144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133856"/>
            <a:ext cx="10287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</a:rPr>
              <a:t>spotify-artistas.app/detalle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1517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Detalle del artista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0" y="1444752"/>
            <a:ext cx="26060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49056" y="1563624"/>
            <a:ext cx="2286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11827"/>
                </a:solidFill>
              </a:rPr>
              <a:t>Seleccionar artista: Bad Bunny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68680" y="1965960"/>
            <a:ext cx="31546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2240280"/>
            <a:ext cx="777240" cy="777240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450592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93392" y="22677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Bad Bunny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93392" y="257860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Artista consolidado · alta señal digital local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1097280" y="3246120"/>
            <a:ext cx="12801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246120"/>
            <a:ext cx="73152" cy="5943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33558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Probabilidad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261872" y="356616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0.99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42032" y="3246120"/>
            <a:ext cx="123444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3246120"/>
            <a:ext cx="73152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3355848"/>
            <a:ext cx="978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Cluster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2706624" y="3566160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413308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</a:rPr>
              <a:t>Lectura sugerida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7280" y="4407408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11827"/>
                </a:solidFill>
              </a:rPr>
              <a:t>Alta señal en Spotify Chile por posición promedio favorable, permanencia y puntaje de posición. No equivale por sí sola a venta de entradas.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343400" y="1965960"/>
            <a:ext cx="1463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965960"/>
            <a:ext cx="73152" cy="6217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20756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Apariciones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4507992" y="22860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1233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89320" y="1965960"/>
            <a:ext cx="1463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89320" y="1965960"/>
            <a:ext cx="73152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53912" y="20756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Rank prom.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153912" y="22860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18.79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7635240" y="1965960"/>
            <a:ext cx="1463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35240" y="1965960"/>
            <a:ext cx="73152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9832" y="20756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Permanencia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7799832" y="22860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227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9281160" y="1965960"/>
            <a:ext cx="14630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81160" y="1965960"/>
            <a:ext cx="73152" cy="62179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45752" y="207568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Clase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9445752" y="22860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Alta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343400" y="2788920"/>
            <a:ext cx="6400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5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297180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11827"/>
                </a:solidFill>
              </a:rPr>
              <a:t>Variables que más influyeron según SHAP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4526280" y="3342132"/>
            <a:ext cx="2721254" cy="16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rank_promedio_chile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7360920" y="3355848"/>
            <a:ext cx="2551176" cy="1211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26280" y="3594506"/>
            <a:ext cx="2721254" cy="16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puntaje_posicion_chile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7360920" y="3608222"/>
            <a:ext cx="1862358" cy="1211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3846881"/>
            <a:ext cx="2721254" cy="16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permanencia_dias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360920" y="3860597"/>
            <a:ext cx="1428659" cy="1211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4099255"/>
            <a:ext cx="2721254" cy="16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movimiento_semanal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360920" y="4112971"/>
            <a:ext cx="994959" cy="1211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26280" y="4351630"/>
            <a:ext cx="2721254" cy="166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11827"/>
                </a:solidFill>
              </a:rPr>
              <a:t>apariciones_chile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7360920" y="4365346"/>
            <a:ext cx="994959" cy="1211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43400" y="5102352"/>
            <a:ext cx="6400800" cy="457200"/>
          </a:xfrm>
          <a:prstGeom prst="roundRect">
            <a:avLst/>
          </a:prstGeom>
          <a:solidFill>
            <a:srgbClr val="E9F9EF"/>
          </a:solidFill>
          <a:ln w="12700">
            <a:solidFill>
              <a:srgbClr val="BDEBC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26280" y="5266944"/>
            <a:ext cx="5989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15803D"/>
                </a:solidFill>
              </a:rPr>
              <a:t>Backend registra métricas del modelo y permite actualizar resultados con nuevos rankings.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9CA3A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Mockup Frontend Backend Spotify</dc:title>
  <dc:subject>Mockup frontend/backend para sistema de recomendación de artistas</dc:subject>
  <dc:creator>Omar Sanhueza - Equipo proyecto Spotify</dc:creator>
  <cp:lastModifiedBy>Omar Sanhueza - Equipo proyecto Spotify</cp:lastModifiedBy>
  <cp:revision>1</cp:revision>
  <dcterms:created xsi:type="dcterms:W3CDTF">2026-07-28T19:08:49Z</dcterms:created>
  <dcterms:modified xsi:type="dcterms:W3CDTF">2026-07-28T19:08:49Z</dcterms:modified>
</cp:coreProperties>
</file>